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92105" y="1632347"/>
            <a:ext cx="3959678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69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AMD AI DEVMASTER HACKATHON 2026 — TRACK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047729" y="1982391"/>
            <a:ext cx="5048541" cy="493776"/>
          </a:xfrm>
          <a:prstGeom prst="rect">
            <a:avLst/>
          </a:prstGeom>
          <a:noFill/>
          <a:ln/>
          <a:effectLst>
            <a:outerShdw sx="100000" sy="100000" kx="0" ky="0" algn="bl" rotWithShape="0" blurRad="285750" dist="50800" dir="16200000">
              <a:srgbClr val="00E5FF">
                <a:alpha val="5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spc="78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TEXTOVID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13169" y="2582466"/>
            <a:ext cx="351755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38" spc="56" kern="0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Comic Universe Generator</a:t>
            </a:r>
            <a:endParaRPr lang="en-US" sz="1238" dirty="0"/>
          </a:p>
        </p:txBody>
      </p:sp>
      <p:sp>
        <p:nvSpPr>
          <p:cNvPr id="5" name="Text 3"/>
          <p:cNvSpPr/>
          <p:nvPr/>
        </p:nvSpPr>
        <p:spPr>
          <a:xfrm>
            <a:off x="2991222" y="2846784"/>
            <a:ext cx="3161444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28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Multimodal Content Creation on AMD Radeon GPU + ROCm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3246834"/>
            <a:ext cx="2286000" cy="142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73489" y="3432572"/>
            <a:ext cx="3197021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13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STABLE DIFFUSION XL | QWEN 35B | PYTORCH ROCM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197" y="403622"/>
            <a:ext cx="3993356" cy="4393406"/>
          </a:xfrm>
          <a:prstGeom prst="roundRect">
            <a:avLst>
              <a:gd name="adj" fmla="val 1908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7219" y="550069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28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</a:t>
            </a:r>
            <a:endParaRPr lang="en-US" sz="1238" dirty="0"/>
          </a:p>
        </p:txBody>
      </p:sp>
      <p:sp>
        <p:nvSpPr>
          <p:cNvPr id="4" name="Text 2"/>
          <p:cNvSpPr/>
          <p:nvPr/>
        </p:nvSpPr>
        <p:spPr>
          <a:xfrm>
            <a:off x="607219" y="767172"/>
            <a:ext cx="571500" cy="21431"/>
          </a:xfrm>
          <a:prstGeom prst="roundRect">
            <a:avLst>
              <a:gd name="adj" fmla="val 88890"/>
            </a:avLst>
          </a:prstGeom>
          <a:solidFill>
            <a:srgbClr val="00E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7219" y="988628"/>
            <a:ext cx="3643313" cy="3981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spcAft>
                <a:spcPts val="788"/>
              </a:spcAft>
              <a:buNone/>
            </a:pPr>
            <a:r>
              <a:rPr lang="en-US" sz="60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4"/>
              </a:lnSpc>
              <a:spcAft>
                <a:spcPts val="788"/>
              </a:spcAft>
              <a:buNone/>
            </a:pPr>
            <a:r>
              <a:rPr lang="en-US" sz="81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Creating comics requires artistic skills, expensive software, and weeks of manual work</a:t>
            </a:r>
            <a:endParaRPr lang="en-US" sz="816" dirty="0"/>
          </a:p>
          <a:p>
            <a:pPr algn="l" indent="0" marL="0">
              <a:lnSpc>
                <a:spcPts val="1264"/>
              </a:lnSpc>
              <a:spcAft>
                <a:spcPts val="788"/>
              </a:spcAft>
              <a:buNone/>
            </a:pPr>
            <a:r>
              <a:rPr lang="en-US" sz="60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4"/>
              </a:lnSpc>
              <a:spcAft>
                <a:spcPts val="788"/>
              </a:spcAft>
              <a:buNone/>
            </a:pPr>
            <a:r>
              <a:rPr lang="en-US" sz="81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Existing AI tools produce single images, not complete comic pages</a:t>
            </a:r>
            <a:endParaRPr lang="en-US" sz="816" dirty="0"/>
          </a:p>
          <a:p>
            <a:pPr algn="l" indent="0" marL="0">
              <a:lnSpc>
                <a:spcPts val="1264"/>
              </a:lnSpc>
              <a:spcAft>
                <a:spcPts val="788"/>
              </a:spcAft>
              <a:buNone/>
            </a:pPr>
            <a:r>
              <a:rPr lang="en-US" sz="60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4"/>
              </a:lnSpc>
              <a:spcAft>
                <a:spcPts val="788"/>
              </a:spcAft>
              <a:buNone/>
            </a:pPr>
            <a:r>
              <a:rPr lang="en-US" sz="81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end-to-end solution optimized for AMD hardware</a:t>
            </a:r>
            <a:endParaRPr lang="en-US" sz="816" dirty="0"/>
          </a:p>
        </p:txBody>
      </p:sp>
      <p:sp>
        <p:nvSpPr>
          <p:cNvPr id="6" name="Text 4"/>
          <p:cNvSpPr/>
          <p:nvPr/>
        </p:nvSpPr>
        <p:spPr>
          <a:xfrm>
            <a:off x="4718447" y="403622"/>
            <a:ext cx="3993356" cy="4393406"/>
          </a:xfrm>
          <a:prstGeom prst="roundRect">
            <a:avLst>
              <a:gd name="adj" fmla="val 1908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93469" y="550069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28" kern="0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Solution</a:t>
            </a:r>
            <a:endParaRPr lang="en-US" sz="1238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3469" y="767172"/>
            <a:ext cx="571500" cy="2143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93469" y="988628"/>
            <a:ext cx="3643313" cy="3981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spcAft>
                <a:spcPts val="788"/>
              </a:spcAft>
              <a:buNone/>
            </a:pPr>
            <a:r>
              <a:rPr lang="en-US" sz="600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4"/>
              </a:lnSpc>
              <a:spcAft>
                <a:spcPts val="788"/>
              </a:spcAft>
              <a:buNone/>
            </a:pPr>
            <a:r>
              <a:rPr lang="en-US" sz="81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Textovid: one prompt generates a complete multi-page comic book</a:t>
            </a:r>
            <a:endParaRPr lang="en-US" sz="816" dirty="0"/>
          </a:p>
          <a:p>
            <a:pPr algn="l" indent="0" marL="0">
              <a:lnSpc>
                <a:spcPts val="1264"/>
              </a:lnSpc>
              <a:spcAft>
                <a:spcPts val="788"/>
              </a:spcAft>
              <a:buNone/>
            </a:pPr>
            <a:r>
              <a:rPr lang="en-US" sz="600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4"/>
              </a:lnSpc>
              <a:spcAft>
                <a:spcPts val="788"/>
              </a:spcAft>
              <a:buNone/>
            </a:pPr>
            <a:r>
              <a:rPr lang="en-US" sz="81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Four-stage pipeline: Story(LLM) &gt; Images(SDXL) &gt; Video(LTX) &gt; 4K Pages</a:t>
            </a:r>
            <a:endParaRPr lang="en-US" sz="816" dirty="0"/>
          </a:p>
          <a:p>
            <a:pPr algn="l" indent="0" marL="0">
              <a:lnSpc>
                <a:spcPts val="1264"/>
              </a:lnSpc>
              <a:spcAft>
                <a:spcPts val="788"/>
              </a:spcAft>
              <a:buNone/>
            </a:pPr>
            <a:r>
              <a:rPr lang="en-US" sz="600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4"/>
              </a:lnSpc>
              <a:spcAft>
                <a:spcPts val="788"/>
              </a:spcAft>
              <a:buNone/>
            </a:pPr>
            <a:r>
              <a:rPr lang="en-US" sz="81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Purpose-built for AMD Radeon GPUs via ROCm 7.2</a:t>
            </a:r>
            <a:endParaRPr lang="en-US" sz="816" dirty="0"/>
          </a:p>
          <a:p>
            <a:pPr algn="l" indent="0" marL="0">
              <a:lnSpc>
                <a:spcPts val="1264"/>
              </a:lnSpc>
              <a:spcAft>
                <a:spcPts val="788"/>
              </a:spcAft>
              <a:buNone/>
            </a:pPr>
            <a:r>
              <a:rPr lang="en-US" sz="600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4"/>
              </a:lnSpc>
              <a:spcAft>
                <a:spcPts val="788"/>
              </a:spcAft>
              <a:buNone/>
            </a:pPr>
            <a:r>
              <a:rPr lang="en-US" sz="81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Uniqueness Engine guarantees every comic is original</a:t>
            </a:r>
            <a:endParaRPr lang="en-US" sz="81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1475"/>
            <a:ext cx="863600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System Architecture</a:t>
            </a:r>
            <a:endParaRPr lang="en-US" sz="2025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752884"/>
            <a:ext cx="571500" cy="21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2197" y="892187"/>
            <a:ext cx="1893094" cy="855687"/>
          </a:xfrm>
          <a:prstGeom prst="roundRect">
            <a:avLst>
              <a:gd name="adj" fmla="val 8905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78644" y="1024347"/>
            <a:ext cx="16002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b="1" spc="28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Story Engine</a:t>
            </a:r>
            <a:endParaRPr lang="en-US" sz="844" dirty="0"/>
          </a:p>
        </p:txBody>
      </p:sp>
      <p:sp>
        <p:nvSpPr>
          <p:cNvPr id="6" name="Text 3"/>
          <p:cNvSpPr/>
          <p:nvPr/>
        </p:nvSpPr>
        <p:spPr>
          <a:xfrm>
            <a:off x="578644" y="1195797"/>
            <a:ext cx="1600200" cy="278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 35B LLM via free Radeon Cloud API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55784" y="1494557"/>
            <a:ext cx="850843" cy="128016"/>
          </a:xfrm>
          <a:prstGeom prst="roundRect">
            <a:avLst>
              <a:gd name="adj" fmla="val 22321"/>
            </a:avLst>
          </a:prstGeom>
          <a:solidFill>
            <a:srgbClr val="00E5FF">
              <a:alpha val="12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21039" y="1501415"/>
            <a:ext cx="92033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56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GPU COST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561034" y="892187"/>
            <a:ext cx="1893094" cy="855687"/>
          </a:xfrm>
          <a:prstGeom prst="roundRect">
            <a:avLst>
              <a:gd name="adj" fmla="val 8905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707481" y="1024347"/>
            <a:ext cx="16002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b="1" spc="28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Engine</a:t>
            </a:r>
            <a:endParaRPr lang="en-US" sz="844" dirty="0"/>
          </a:p>
        </p:txBody>
      </p:sp>
      <p:sp>
        <p:nvSpPr>
          <p:cNvPr id="11" name="Text 8"/>
          <p:cNvSpPr/>
          <p:nvPr/>
        </p:nvSpPr>
        <p:spPr>
          <a:xfrm>
            <a:off x="2707481" y="1195797"/>
            <a:ext cx="1600200" cy="278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SDXL + SDXL Refiner on AMD Radeon GPU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684621" y="1494557"/>
            <a:ext cx="871604" cy="128016"/>
          </a:xfrm>
          <a:prstGeom prst="roundRect">
            <a:avLst>
              <a:gd name="adj" fmla="val 22321"/>
            </a:avLst>
          </a:prstGeom>
          <a:solidFill>
            <a:srgbClr val="8B5CF6">
              <a:alpha val="12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633282" y="1501415"/>
            <a:ext cx="97428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56" kern="0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FLOAT16 / ROCM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689872" y="892187"/>
            <a:ext cx="1893094" cy="855687"/>
          </a:xfrm>
          <a:prstGeom prst="roundRect">
            <a:avLst>
              <a:gd name="adj" fmla="val 8905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36319" y="1086408"/>
            <a:ext cx="16002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b="1" spc="28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Video Engine</a:t>
            </a:r>
            <a:endParaRPr lang="en-US" sz="844" dirty="0"/>
          </a:p>
        </p:txBody>
      </p:sp>
      <p:sp>
        <p:nvSpPr>
          <p:cNvPr id="16" name="Text 13"/>
          <p:cNvSpPr/>
          <p:nvPr/>
        </p:nvSpPr>
        <p:spPr>
          <a:xfrm>
            <a:off x="4836319" y="1257858"/>
            <a:ext cx="1600200" cy="15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LTX Video Panel Animation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814137" y="1432384"/>
            <a:ext cx="598896" cy="128016"/>
          </a:xfrm>
          <a:prstGeom prst="roundRect">
            <a:avLst>
              <a:gd name="adj" fmla="val 22321"/>
            </a:avLst>
          </a:prstGeom>
          <a:solidFill>
            <a:srgbClr val="64748B">
              <a:alpha val="12000"/>
            </a:srgbClr>
          </a:solidFill>
          <a:ln w="7144">
            <a:solidFill>
              <a:srgbClr val="64748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98483" y="1439242"/>
            <a:ext cx="6302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56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OPTIONAL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818709" y="892187"/>
            <a:ext cx="1893094" cy="855687"/>
          </a:xfrm>
          <a:prstGeom prst="roundRect">
            <a:avLst>
              <a:gd name="adj" fmla="val 8905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965156" y="1086408"/>
            <a:ext cx="16002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b="1" spc="28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Comic Layout</a:t>
            </a:r>
            <a:endParaRPr lang="en-US" sz="844" dirty="0"/>
          </a:p>
        </p:txBody>
      </p:sp>
      <p:sp>
        <p:nvSpPr>
          <p:cNvPr id="21" name="Text 18"/>
          <p:cNvSpPr/>
          <p:nvPr/>
        </p:nvSpPr>
        <p:spPr>
          <a:xfrm>
            <a:off x="6965156" y="1257858"/>
            <a:ext cx="1696212" cy="15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4K Page Assembly (2480x3508px)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6946730" y="1432384"/>
            <a:ext cx="497513" cy="128016"/>
          </a:xfrm>
          <a:prstGeom prst="roundRect">
            <a:avLst>
              <a:gd name="adj" fmla="val 22321"/>
            </a:avLst>
          </a:prstGeom>
          <a:solidFill>
            <a:srgbClr val="64748B">
              <a:alpha val="12000"/>
            </a:srgbClr>
          </a:solidFill>
          <a:ln w="7144">
            <a:solidFill>
              <a:srgbClr val="64748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927740" y="1439242"/>
            <a:ext cx="53549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56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PIL/CPU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32197" y="1983618"/>
            <a:ext cx="1957388" cy="671513"/>
          </a:xfrm>
          <a:prstGeom prst="roundRect">
            <a:avLst>
              <a:gd name="adj" fmla="val 11348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50069" y="2130065"/>
            <a:ext cx="1721644" cy="258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 GB</a:t>
            </a:r>
            <a:endParaRPr lang="en-US" sz="2025" dirty="0"/>
          </a:p>
        </p:txBody>
      </p:sp>
      <p:sp>
        <p:nvSpPr>
          <p:cNvPr id="26" name="Text 23"/>
          <p:cNvSpPr/>
          <p:nvPr/>
        </p:nvSpPr>
        <p:spPr>
          <a:xfrm>
            <a:off x="550069" y="2415815"/>
            <a:ext cx="1721644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spc="28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VRAM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539603" y="1983618"/>
            <a:ext cx="1957388" cy="671513"/>
          </a:xfrm>
          <a:prstGeom prst="roundRect">
            <a:avLst>
              <a:gd name="adj" fmla="val 11348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657475" y="2130065"/>
            <a:ext cx="1721644" cy="258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4K</a:t>
            </a:r>
            <a:endParaRPr lang="en-US" sz="2025" dirty="0"/>
          </a:p>
        </p:txBody>
      </p:sp>
      <p:sp>
        <p:nvSpPr>
          <p:cNvPr id="29" name="Text 26"/>
          <p:cNvSpPr/>
          <p:nvPr/>
        </p:nvSpPr>
        <p:spPr>
          <a:xfrm>
            <a:off x="2657475" y="2415815"/>
            <a:ext cx="1721644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spc="28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Output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647009" y="1983618"/>
            <a:ext cx="1957388" cy="671513"/>
          </a:xfrm>
          <a:prstGeom prst="roundRect">
            <a:avLst>
              <a:gd name="adj" fmla="val 11348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764881" y="2130065"/>
            <a:ext cx="1721644" cy="258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2,887</a:t>
            </a:r>
            <a:endParaRPr lang="en-US" sz="2025" dirty="0"/>
          </a:p>
        </p:txBody>
      </p:sp>
      <p:sp>
        <p:nvSpPr>
          <p:cNvPr id="32" name="Text 29"/>
          <p:cNvSpPr/>
          <p:nvPr/>
        </p:nvSpPr>
        <p:spPr>
          <a:xfrm>
            <a:off x="4764881" y="2415815"/>
            <a:ext cx="1721644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spc="28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754416" y="1983618"/>
            <a:ext cx="1957388" cy="671513"/>
          </a:xfrm>
          <a:prstGeom prst="roundRect">
            <a:avLst>
              <a:gd name="adj" fmla="val 11348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872288" y="2130065"/>
            <a:ext cx="1721644" cy="258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endParaRPr lang="en-US" sz="2025" dirty="0"/>
          </a:p>
        </p:txBody>
      </p:sp>
      <p:sp>
        <p:nvSpPr>
          <p:cNvPr id="35" name="Text 32"/>
          <p:cNvSpPr/>
          <p:nvPr/>
        </p:nvSpPr>
        <p:spPr>
          <a:xfrm>
            <a:off x="6872288" y="2415815"/>
            <a:ext cx="1721644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spc="28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46697" y="924334"/>
            <a:ext cx="0" cy="675754"/>
          </a:xfrm>
          <a:prstGeom prst="line">
            <a:avLst/>
          </a:prstGeom>
          <a:noFill/>
          <a:ln w="7144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46697" y="1728676"/>
            <a:ext cx="0" cy="527186"/>
          </a:xfrm>
          <a:prstGeom prst="line">
            <a:avLst/>
          </a:prstGeom>
          <a:noFill/>
          <a:ln w="7144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46697" y="2384450"/>
            <a:ext cx="0" cy="527186"/>
          </a:xfrm>
          <a:prstGeom prst="line">
            <a:avLst/>
          </a:prstGeom>
          <a:noFill/>
          <a:ln w="7144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6697" y="3040224"/>
            <a:ext cx="0" cy="527186"/>
          </a:xfrm>
          <a:prstGeom prst="line">
            <a:avLst/>
          </a:prstGeom>
          <a:noFill/>
          <a:ln w="7144">
            <a:solidFill>
              <a:srgbClr val="00E5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342900"/>
            <a:ext cx="571500" cy="21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8625" y="478631"/>
            <a:ext cx="863600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Models and Algorithms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432197" y="920762"/>
            <a:ext cx="8279606" cy="682898"/>
          </a:xfrm>
          <a:prstGeom prst="roundRect">
            <a:avLst>
              <a:gd name="adj" fmla="val 11158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07219" y="1052922"/>
            <a:ext cx="1364456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56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07219" y="1174366"/>
            <a:ext cx="1364456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Qwen 35B (Qwen3.6-35B-A3B)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321719" y="1185416"/>
            <a:ext cx="676982" cy="153591"/>
          </a:xfrm>
          <a:prstGeom prst="roundRect">
            <a:avLst>
              <a:gd name="adj" fmla="val 18605"/>
            </a:avLst>
          </a:prstGeom>
          <a:solidFill>
            <a:srgbClr val="00E5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055851" y="1185416"/>
            <a:ext cx="582885" cy="153591"/>
          </a:xfrm>
          <a:prstGeom prst="roundRect">
            <a:avLst>
              <a:gd name="adj" fmla="val 18605"/>
            </a:avLst>
          </a:prstGeom>
          <a:solidFill>
            <a:srgbClr val="00E5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695886" y="1185416"/>
            <a:ext cx="1226269" cy="153591"/>
          </a:xfrm>
          <a:prstGeom prst="roundRect">
            <a:avLst>
              <a:gd name="adj" fmla="val 18605"/>
            </a:avLst>
          </a:prstGeom>
          <a:solidFill>
            <a:srgbClr val="00E5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979305" y="1185416"/>
            <a:ext cx="823540" cy="153591"/>
          </a:xfrm>
          <a:prstGeom prst="roundRect">
            <a:avLst>
              <a:gd name="adj" fmla="val 18605"/>
            </a:avLst>
          </a:prstGeom>
          <a:solidFill>
            <a:srgbClr val="00E5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859996" y="1199034"/>
            <a:ext cx="1168784" cy="125403"/>
          </a:xfrm>
          <a:prstGeom prst="rect">
            <a:avLst/>
          </a:prstGeom>
          <a:noFill/>
          <a:ln/>
        </p:spPr>
        <p:txBody>
          <a:bodyPr wrap="none" lIns="171450" tIns="100013" rIns="171450" bIns="100013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E2E8F0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Structured JSON output</a:t>
            </a:r>
            <a:endParaRPr lang="en-US" sz="788" dirty="0"/>
          </a:p>
        </p:txBody>
      </p:sp>
      <p:sp>
        <p:nvSpPr>
          <p:cNvPr id="16" name="Text 13"/>
          <p:cNvSpPr/>
          <p:nvPr/>
        </p:nvSpPr>
        <p:spPr>
          <a:xfrm>
            <a:off x="2321719" y="1176201"/>
            <a:ext cx="676982" cy="172022"/>
          </a:xfrm>
          <a:prstGeom prst="roundRect">
            <a:avLst>
              <a:gd name="adj" fmla="val 16611"/>
            </a:avLst>
          </a:prstGeom>
          <a:solidFill>
            <a:srgbClr val="00E5FF">
              <a:alpha val="8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291158" y="1185416"/>
            <a:ext cx="73810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35B PARAMS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055851" y="1176201"/>
            <a:ext cx="582885" cy="172022"/>
          </a:xfrm>
          <a:prstGeom prst="roundRect">
            <a:avLst>
              <a:gd name="adj" fmla="val 16611"/>
            </a:avLst>
          </a:prstGeom>
          <a:solidFill>
            <a:srgbClr val="00E5FF">
              <a:alpha val="8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025597" y="1185416"/>
            <a:ext cx="64339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0.92 TEMP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695886" y="1176201"/>
            <a:ext cx="1226269" cy="172022"/>
          </a:xfrm>
          <a:prstGeom prst="roundRect">
            <a:avLst>
              <a:gd name="adj" fmla="val 16611"/>
            </a:avLst>
          </a:prstGeom>
          <a:solidFill>
            <a:srgbClr val="00E5FF">
              <a:alpha val="8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695886" y="1185416"/>
            <a:ext cx="122626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 RADEON CLOUD API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979305" y="1176201"/>
            <a:ext cx="823540" cy="172022"/>
          </a:xfrm>
          <a:prstGeom prst="roundRect">
            <a:avLst>
              <a:gd name="adj" fmla="val 16611"/>
            </a:avLst>
          </a:prstGeom>
          <a:solidFill>
            <a:srgbClr val="00E5FF">
              <a:alpha val="8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930909" y="1185416"/>
            <a:ext cx="92033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GPU COST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32197" y="1725104"/>
            <a:ext cx="8279606" cy="534330"/>
          </a:xfrm>
          <a:prstGeom prst="roundRect">
            <a:avLst>
              <a:gd name="adj" fmla="val 14261"/>
            </a:avLst>
          </a:prstGeom>
          <a:solidFill>
            <a:srgbClr val="111827">
              <a:alpha val="70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07219" y="1857263"/>
            <a:ext cx="1364456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56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07219" y="1978707"/>
            <a:ext cx="136445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SDXL + Refiner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321719" y="1915418"/>
            <a:ext cx="870979" cy="153591"/>
          </a:xfrm>
          <a:prstGeom prst="roundRect">
            <a:avLst>
              <a:gd name="adj" fmla="val 18605"/>
            </a:avLst>
          </a:prstGeom>
          <a:solidFill>
            <a:srgbClr val="00E5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249848" y="1915418"/>
            <a:ext cx="1014524" cy="153591"/>
          </a:xfrm>
          <a:prstGeom prst="roundRect">
            <a:avLst>
              <a:gd name="adj" fmla="val 18605"/>
            </a:avLst>
          </a:prstGeom>
          <a:solidFill>
            <a:srgbClr val="00E5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321522" y="1915418"/>
            <a:ext cx="810592" cy="153591"/>
          </a:xfrm>
          <a:prstGeom prst="roundRect">
            <a:avLst>
              <a:gd name="adj" fmla="val 18605"/>
            </a:avLst>
          </a:prstGeom>
          <a:solidFill>
            <a:srgbClr val="00E5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189265" y="1915418"/>
            <a:ext cx="841846" cy="153591"/>
          </a:xfrm>
          <a:prstGeom prst="roundRect">
            <a:avLst>
              <a:gd name="adj" fmla="val 18605"/>
            </a:avLst>
          </a:prstGeom>
          <a:solidFill>
            <a:srgbClr val="00E5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088261" y="1929036"/>
            <a:ext cx="2140111" cy="125403"/>
          </a:xfrm>
          <a:prstGeom prst="rect">
            <a:avLst/>
          </a:prstGeom>
          <a:noFill/>
          <a:ln/>
        </p:spPr>
        <p:txBody>
          <a:bodyPr wrap="square" lIns="171450" tIns="100013" rIns="171450" bIns="100013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E2E8F0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Denoising 0.35, quality boosters in prompt</a:t>
            </a:r>
            <a:endParaRPr lang="en-US" sz="788" dirty="0"/>
          </a:p>
        </p:txBody>
      </p:sp>
      <p:sp>
        <p:nvSpPr>
          <p:cNvPr id="32" name="Text 29"/>
          <p:cNvSpPr/>
          <p:nvPr/>
        </p:nvSpPr>
        <p:spPr>
          <a:xfrm>
            <a:off x="2321719" y="1906203"/>
            <a:ext cx="870979" cy="172022"/>
          </a:xfrm>
          <a:prstGeom prst="roundRect">
            <a:avLst>
              <a:gd name="adj" fmla="val 16611"/>
            </a:avLst>
          </a:prstGeom>
          <a:solidFill>
            <a:srgbClr val="00E5FF">
              <a:alpha val="8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2321719" y="1915418"/>
            <a:ext cx="87097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BASE 1024×1024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249848" y="1906203"/>
            <a:ext cx="1014524" cy="172022"/>
          </a:xfrm>
          <a:prstGeom prst="roundRect">
            <a:avLst>
              <a:gd name="adj" fmla="val 16611"/>
            </a:avLst>
          </a:prstGeom>
          <a:solidFill>
            <a:srgbClr val="00E5FF">
              <a:alpha val="8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3249848" y="1915418"/>
            <a:ext cx="101452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REFINER 2048×2048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321522" y="1906203"/>
            <a:ext cx="810592" cy="172022"/>
          </a:xfrm>
          <a:prstGeom prst="roundRect">
            <a:avLst>
              <a:gd name="adj" fmla="val 16611"/>
            </a:avLst>
          </a:prstGeom>
          <a:solidFill>
            <a:srgbClr val="00E5FF">
              <a:alpha val="8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293627" y="1915418"/>
            <a:ext cx="86638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DPM-SOLVER++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189265" y="1906203"/>
            <a:ext cx="841846" cy="172022"/>
          </a:xfrm>
          <a:prstGeom prst="roundRect">
            <a:avLst>
              <a:gd name="adj" fmla="val 16611"/>
            </a:avLst>
          </a:prstGeom>
          <a:solidFill>
            <a:srgbClr val="00E5FF">
              <a:alpha val="8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129640" y="1915418"/>
            <a:ext cx="96109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KARRAS SIGMAS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32197" y="2380878"/>
            <a:ext cx="8279606" cy="534330"/>
          </a:xfrm>
          <a:prstGeom prst="roundRect">
            <a:avLst>
              <a:gd name="adj" fmla="val 14261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07219" y="2513037"/>
            <a:ext cx="1364456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56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VIDEO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07219" y="2634481"/>
            <a:ext cx="136445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LTX Video 0.9.1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2321719" y="2571192"/>
            <a:ext cx="844079" cy="153591"/>
          </a:xfrm>
          <a:prstGeom prst="roundRect">
            <a:avLst>
              <a:gd name="adj" fmla="val 18605"/>
            </a:avLst>
          </a:prstGeom>
          <a:solidFill>
            <a:srgbClr val="00E5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3222947" y="2571192"/>
            <a:ext cx="615479" cy="153591"/>
          </a:xfrm>
          <a:prstGeom prst="roundRect">
            <a:avLst>
              <a:gd name="adj" fmla="val 18605"/>
            </a:avLst>
          </a:prstGeom>
          <a:solidFill>
            <a:srgbClr val="00E5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3895576" y="2571192"/>
            <a:ext cx="373707" cy="153591"/>
          </a:xfrm>
          <a:prstGeom prst="roundRect">
            <a:avLst>
              <a:gd name="adj" fmla="val 18605"/>
            </a:avLst>
          </a:prstGeom>
          <a:solidFill>
            <a:srgbClr val="00E5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4326434" y="2571192"/>
            <a:ext cx="566924" cy="153591"/>
          </a:xfrm>
          <a:prstGeom prst="roundRect">
            <a:avLst>
              <a:gd name="adj" fmla="val 18605"/>
            </a:avLst>
          </a:prstGeom>
          <a:solidFill>
            <a:srgbClr val="00E5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4950507" y="2584810"/>
            <a:ext cx="1119783" cy="125403"/>
          </a:xfrm>
          <a:prstGeom prst="rect">
            <a:avLst/>
          </a:prstGeom>
          <a:noFill/>
          <a:ln/>
        </p:spPr>
        <p:txBody>
          <a:bodyPr wrap="none" lIns="171450" tIns="100013" rIns="171450" bIns="100013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E2E8F0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CPU offload supported</a:t>
            </a:r>
            <a:endParaRPr lang="en-US" sz="788" dirty="0"/>
          </a:p>
        </p:txBody>
      </p:sp>
      <p:sp>
        <p:nvSpPr>
          <p:cNvPr id="48" name="Text 45"/>
          <p:cNvSpPr/>
          <p:nvPr/>
        </p:nvSpPr>
        <p:spPr>
          <a:xfrm>
            <a:off x="2321719" y="2561976"/>
            <a:ext cx="844079" cy="172022"/>
          </a:xfrm>
          <a:prstGeom prst="roundRect">
            <a:avLst>
              <a:gd name="adj" fmla="val 16611"/>
            </a:avLst>
          </a:prstGeom>
          <a:solidFill>
            <a:srgbClr val="00E5FF">
              <a:alpha val="8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2321719" y="2571192"/>
            <a:ext cx="84407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IMAGE-TO-VIDEO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3222947" y="2561976"/>
            <a:ext cx="615479" cy="172022"/>
          </a:xfrm>
          <a:prstGeom prst="roundRect">
            <a:avLst>
              <a:gd name="adj" fmla="val 16611"/>
            </a:avLst>
          </a:prstGeom>
          <a:solidFill>
            <a:srgbClr val="00E5FF">
              <a:alpha val="8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3198800" y="2571192"/>
            <a:ext cx="66377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 FRAMES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3895576" y="2561976"/>
            <a:ext cx="373707" cy="172022"/>
          </a:xfrm>
          <a:prstGeom prst="roundRect">
            <a:avLst>
              <a:gd name="adj" fmla="val 16611"/>
            </a:avLst>
          </a:prstGeom>
          <a:solidFill>
            <a:srgbClr val="00E5FF">
              <a:alpha val="8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3895576" y="2571192"/>
            <a:ext cx="373707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FPS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326434" y="2561976"/>
            <a:ext cx="566924" cy="172022"/>
          </a:xfrm>
          <a:prstGeom prst="roundRect">
            <a:avLst>
              <a:gd name="adj" fmla="val 16611"/>
            </a:avLst>
          </a:prstGeom>
          <a:solidFill>
            <a:srgbClr val="00E5FF">
              <a:alpha val="8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4294793" y="2571192"/>
            <a:ext cx="63020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OPTIONAL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432197" y="3036652"/>
            <a:ext cx="8279606" cy="534330"/>
          </a:xfrm>
          <a:prstGeom prst="roundRect">
            <a:avLst>
              <a:gd name="adj" fmla="val 14261"/>
            </a:avLst>
          </a:prstGeom>
          <a:solidFill>
            <a:srgbClr val="111827">
              <a:alpha val="70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607219" y="3168811"/>
            <a:ext cx="1364456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56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LAYOUT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607219" y="3290255"/>
            <a:ext cx="136445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Pillow/PIL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2321719" y="3226966"/>
            <a:ext cx="766949" cy="153591"/>
          </a:xfrm>
          <a:prstGeom prst="roundRect">
            <a:avLst>
              <a:gd name="adj" fmla="val 18605"/>
            </a:avLst>
          </a:prstGeom>
          <a:solidFill>
            <a:srgbClr val="00E5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3145817" y="3226966"/>
            <a:ext cx="884262" cy="153591"/>
          </a:xfrm>
          <a:prstGeom prst="roundRect">
            <a:avLst>
              <a:gd name="adj" fmla="val 18605"/>
            </a:avLst>
          </a:prstGeom>
          <a:solidFill>
            <a:srgbClr val="00E5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4087230" y="3226966"/>
            <a:ext cx="945654" cy="153591"/>
          </a:xfrm>
          <a:prstGeom prst="roundRect">
            <a:avLst>
              <a:gd name="adj" fmla="val 18605"/>
            </a:avLst>
          </a:prstGeom>
          <a:solidFill>
            <a:srgbClr val="00E5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5090033" y="3226966"/>
            <a:ext cx="538795" cy="153591"/>
          </a:xfrm>
          <a:prstGeom prst="roundRect">
            <a:avLst>
              <a:gd name="adj" fmla="val 18605"/>
            </a:avLst>
          </a:prstGeom>
          <a:solidFill>
            <a:srgbClr val="00E5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5685979" y="3240584"/>
            <a:ext cx="1323938" cy="125403"/>
          </a:xfrm>
          <a:prstGeom prst="rect">
            <a:avLst/>
          </a:prstGeom>
          <a:noFill/>
          <a:ln/>
        </p:spPr>
        <p:txBody>
          <a:bodyPr wrap="none" lIns="171450" tIns="100013" rIns="171450" bIns="100013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E2E8F0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Title page with glow effect</a:t>
            </a:r>
            <a:endParaRPr lang="en-US" sz="788" dirty="0"/>
          </a:p>
        </p:txBody>
      </p:sp>
      <p:sp>
        <p:nvSpPr>
          <p:cNvPr id="64" name="Text 61"/>
          <p:cNvSpPr/>
          <p:nvPr/>
        </p:nvSpPr>
        <p:spPr>
          <a:xfrm>
            <a:off x="2321719" y="3217750"/>
            <a:ext cx="766949" cy="172022"/>
          </a:xfrm>
          <a:prstGeom prst="roundRect">
            <a:avLst>
              <a:gd name="adj" fmla="val 16611"/>
            </a:avLst>
          </a:prstGeom>
          <a:solidFill>
            <a:srgbClr val="00E5FF">
              <a:alpha val="8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2261811" y="3226966"/>
            <a:ext cx="88676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DYNAMIC GRID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3145817" y="3217750"/>
            <a:ext cx="884262" cy="172022"/>
          </a:xfrm>
          <a:prstGeom prst="roundRect">
            <a:avLst>
              <a:gd name="adj" fmla="val 16611"/>
            </a:avLst>
          </a:prstGeom>
          <a:solidFill>
            <a:srgbClr val="00E5FF">
              <a:alpha val="8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3145817" y="3226966"/>
            <a:ext cx="88426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SPEECH BUBBLES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4087230" y="3217750"/>
            <a:ext cx="945654" cy="172022"/>
          </a:xfrm>
          <a:prstGeom prst="roundRect">
            <a:avLst>
              <a:gd name="adj" fmla="val 16611"/>
            </a:avLst>
          </a:prstGeom>
          <a:solidFill>
            <a:srgbClr val="00E5FF">
              <a:alpha val="8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6"/>
          <p:cNvSpPr/>
          <p:nvPr/>
        </p:nvSpPr>
        <p:spPr>
          <a:xfrm>
            <a:off x="4087230" y="3226966"/>
            <a:ext cx="94565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NARRATION BOXES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5090033" y="3217750"/>
            <a:ext cx="538795" cy="172022"/>
          </a:xfrm>
          <a:prstGeom prst="roundRect">
            <a:avLst>
              <a:gd name="adj" fmla="val 16611"/>
            </a:avLst>
          </a:prstGeom>
          <a:solidFill>
            <a:srgbClr val="00E5FF">
              <a:alpha val="8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8"/>
          <p:cNvSpPr/>
          <p:nvPr/>
        </p:nvSpPr>
        <p:spPr>
          <a:xfrm>
            <a:off x="5064710" y="3226966"/>
            <a:ext cx="58944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SFX TEXT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57200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AMD Radeon / ROCm Adaptation</a:t>
            </a:r>
            <a:endParaRPr lang="en-US" sz="2025" dirty="0"/>
          </a:p>
        </p:txBody>
      </p:sp>
      <p:sp>
        <p:nvSpPr>
          <p:cNvPr id="3" name="Text 1"/>
          <p:cNvSpPr/>
          <p:nvPr/>
        </p:nvSpPr>
        <p:spPr>
          <a:xfrm>
            <a:off x="432197" y="899331"/>
            <a:ext cx="8279606" cy="971550"/>
          </a:xfrm>
          <a:prstGeom prst="roundRect">
            <a:avLst>
              <a:gd name="adj" fmla="val 7843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7219" y="1045778"/>
            <a:ext cx="257175" cy="257175"/>
          </a:xfrm>
          <a:prstGeom prst="ellipse">
            <a:avLst/>
          </a:prstGeom>
          <a:solidFill>
            <a:srgbClr val="00E5FF">
              <a:alpha val="12000"/>
            </a:srgbClr>
          </a:solidFill>
          <a:ln/>
          <a:effectLst>
            <a:outerShdw sx="100000" sy="100000" kx="0" ky="0" algn="bl" rotWithShape="0" blurRad="114300" dist="50800" dir="16200000">
              <a:srgbClr val="00E5FF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2192" y="1099356"/>
            <a:ext cx="327229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F16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950119" y="1105830"/>
            <a:ext cx="7586663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Float16 Inference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7219" y="1360103"/>
            <a:ext cx="792956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E2E8F0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pipeline operations use torch.float16, achieving 2x speedup and 50% VRAM reduction compared to float32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607219" y="1617278"/>
            <a:ext cx="65998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2x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Speedup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13222" y="1617278"/>
            <a:ext cx="722355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50%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VRAM Reduction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2197" y="1992325"/>
            <a:ext cx="4079081" cy="927125"/>
          </a:xfrm>
          <a:prstGeom prst="roundRect">
            <a:avLst>
              <a:gd name="adj" fmla="val 8219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7219" y="2138772"/>
            <a:ext cx="257175" cy="257175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  <a:effectLst>
            <a:outerShdw sx="100000" sy="100000" kx="0" ky="0" algn="bl" rotWithShape="0" blurRad="114300" dist="50800" dir="16200000">
              <a:srgbClr val="8B5CF6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912" y="2192350"/>
            <a:ext cx="178482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950119" y="2198824"/>
            <a:ext cx="338613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Karras Scheduler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7219" y="2453097"/>
            <a:ext cx="3729038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E2E8F0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DPM-Solver++ with Karras sigmas produces better quality in fewer inference steps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32722" y="1992325"/>
            <a:ext cx="4079081" cy="927125"/>
          </a:xfrm>
          <a:prstGeom prst="roundRect">
            <a:avLst>
              <a:gd name="adj" fmla="val 8219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7744" y="2138772"/>
            <a:ext cx="257175" cy="25717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866791" y="2192350"/>
            <a:ext cx="198127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xf</a:t>
            </a:r>
            <a:endParaRPr lang="en-US" sz="1013" dirty="0"/>
          </a:p>
        </p:txBody>
      </p:sp>
      <p:sp>
        <p:nvSpPr>
          <p:cNvPr id="18" name="Text 15"/>
          <p:cNvSpPr/>
          <p:nvPr/>
        </p:nvSpPr>
        <p:spPr>
          <a:xfrm>
            <a:off x="5150644" y="2198824"/>
            <a:ext cx="338613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xformers Attention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07744" y="2453097"/>
            <a:ext cx="3729038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E2E8F0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Memory-efficient attention with graceful fallback if xformers is unavailable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32197" y="3040893"/>
            <a:ext cx="4079081" cy="927125"/>
          </a:xfrm>
          <a:prstGeom prst="roundRect">
            <a:avLst>
              <a:gd name="adj" fmla="val 8219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07219" y="3187340"/>
            <a:ext cx="257175" cy="257175"/>
          </a:xfrm>
          <a:prstGeom prst="ellipse">
            <a:avLst/>
          </a:prstGeom>
          <a:solidFill>
            <a:srgbClr val="00E5FF">
              <a:alpha val="12000"/>
            </a:srgbClr>
          </a:solidFill>
          <a:ln/>
          <a:effectLst>
            <a:outerShdw sx="100000" sy="100000" kx="0" ky="0" algn="bl" rotWithShape="0" blurRad="114300" dist="50800" dir="16200000">
              <a:srgbClr val="00E5FF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32445" y="3240918"/>
            <a:ext cx="231949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</a:t>
            </a:r>
            <a:endParaRPr lang="en-US" sz="1013" dirty="0"/>
          </a:p>
        </p:txBody>
      </p:sp>
      <p:sp>
        <p:nvSpPr>
          <p:cNvPr id="23" name="Text 20"/>
          <p:cNvSpPr/>
          <p:nvPr/>
        </p:nvSpPr>
        <p:spPr>
          <a:xfrm>
            <a:off x="950119" y="3247392"/>
            <a:ext cx="338613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High-Res Fix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07219" y="3501665"/>
            <a:ext cx="3729038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E2E8F0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Two-pass pipeline: base 1024px then refiner 2048px with 0.35 denoising strength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32722" y="3040893"/>
            <a:ext cx="4079081" cy="927125"/>
          </a:xfrm>
          <a:prstGeom prst="roundRect">
            <a:avLst>
              <a:gd name="adj" fmla="val 8219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07744" y="3187340"/>
            <a:ext cx="257175" cy="257175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  <a:effectLst>
            <a:outerShdw sx="100000" sy="100000" kx="0" ky="0" algn="bl" rotWithShape="0" blurRad="114300" dist="50800" dir="16200000">
              <a:srgbClr val="8B5CF6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846811" y="3240918"/>
            <a:ext cx="218108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$0</a:t>
            </a:r>
            <a:endParaRPr lang="en-US" sz="1013" dirty="0"/>
          </a:p>
        </p:txBody>
      </p:sp>
      <p:sp>
        <p:nvSpPr>
          <p:cNvPr id="28" name="Text 25"/>
          <p:cNvSpPr/>
          <p:nvPr/>
        </p:nvSpPr>
        <p:spPr>
          <a:xfrm>
            <a:off x="5150644" y="3247392"/>
            <a:ext cx="338613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Zero-Cost LLM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07744" y="3501665"/>
            <a:ext cx="3729038" cy="17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E2E8F0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Story generation via free cloud API reserves 100% GPU budget for images</a:t>
            </a:r>
            <a:endParaRPr lang="en-US" sz="788" dirty="0"/>
          </a:p>
        </p:txBody>
      </p:sp>
      <p:sp>
        <p:nvSpPr>
          <p:cNvPr id="30" name="Text 27"/>
          <p:cNvSpPr/>
          <p:nvPr/>
        </p:nvSpPr>
        <p:spPr>
          <a:xfrm>
            <a:off x="432197" y="4089462"/>
            <a:ext cx="4079081" cy="927125"/>
          </a:xfrm>
          <a:prstGeom prst="roundRect">
            <a:avLst>
              <a:gd name="adj" fmla="val 8219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07219" y="4235909"/>
            <a:ext cx="257175" cy="257175"/>
          </a:xfrm>
          <a:prstGeom prst="ellipse">
            <a:avLst/>
          </a:prstGeom>
          <a:solidFill>
            <a:srgbClr val="F43F5E">
              <a:alpha val="10000"/>
            </a:srgbClr>
          </a:solidFill>
          <a:ln/>
          <a:effectLst>
            <a:outerShdw sx="100000" sy="100000" kx="0" ky="0" algn="bl" rotWithShape="0" blurRad="114300" dist="50800" dir="16200000">
              <a:srgbClr val="F43F5E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86693" y="4289487"/>
            <a:ext cx="177701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F43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</a:t>
            </a:r>
            <a:endParaRPr lang="en-US" sz="1013" dirty="0"/>
          </a:p>
        </p:txBody>
      </p:sp>
      <p:sp>
        <p:nvSpPr>
          <p:cNvPr id="33" name="Text 30"/>
          <p:cNvSpPr/>
          <p:nvPr/>
        </p:nvSpPr>
        <p:spPr>
          <a:xfrm>
            <a:off x="950119" y="4295961"/>
            <a:ext cx="338613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Built-in Benchmark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07219" y="4550234"/>
            <a:ext cx="3729038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E2E8F0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One-click GPU benchmark with timing, throughput, and peak VRAM measurement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342900"/>
            <a:ext cx="571500" cy="214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8631"/>
            <a:ext cx="863600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Uniqueness Engine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860041"/>
            <a:ext cx="8286750" cy="19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E2E8F0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comic is structurally and narratively distinct</a:t>
            </a:r>
            <a:endParaRPr lang="en-US" sz="844" dirty="0"/>
          </a:p>
        </p:txBody>
      </p:sp>
      <p:sp>
        <p:nvSpPr>
          <p:cNvPr id="5" name="Text 2"/>
          <p:cNvSpPr/>
          <p:nvPr/>
        </p:nvSpPr>
        <p:spPr>
          <a:xfrm>
            <a:off x="432197" y="1240445"/>
            <a:ext cx="1558677" cy="790054"/>
          </a:xfrm>
          <a:prstGeom prst="roundRect">
            <a:avLst>
              <a:gd name="adj" fmla="val 9645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77420" y="1386892"/>
            <a:ext cx="668119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2363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endParaRPr lang="en-US" sz="2363" dirty="0"/>
          </a:p>
        </p:txBody>
      </p:sp>
      <p:sp>
        <p:nvSpPr>
          <p:cNvPr id="7" name="Text 4"/>
          <p:cNvSpPr/>
          <p:nvPr/>
        </p:nvSpPr>
        <p:spPr>
          <a:xfrm>
            <a:off x="797478" y="1772655"/>
            <a:ext cx="828003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spc="28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Plot Structures</a:t>
            </a:r>
            <a:endParaRPr lang="en-US" sz="675" dirty="0"/>
          </a:p>
        </p:txBody>
      </p:sp>
      <p:sp>
        <p:nvSpPr>
          <p:cNvPr id="8" name="Text 5"/>
          <p:cNvSpPr/>
          <p:nvPr/>
        </p:nvSpPr>
        <p:spPr>
          <a:xfrm>
            <a:off x="2112318" y="1240445"/>
            <a:ext cx="1558789" cy="790054"/>
          </a:xfrm>
          <a:prstGeom prst="roundRect">
            <a:avLst>
              <a:gd name="adj" fmla="val 9645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557652" y="1386892"/>
            <a:ext cx="668119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2363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</a:t>
            </a:r>
            <a:endParaRPr lang="en-US" sz="2363" dirty="0"/>
          </a:p>
        </p:txBody>
      </p:sp>
      <p:sp>
        <p:nvSpPr>
          <p:cNvPr id="10" name="Text 7"/>
          <p:cNvSpPr/>
          <p:nvPr/>
        </p:nvSpPr>
        <p:spPr>
          <a:xfrm>
            <a:off x="2285442" y="1772655"/>
            <a:ext cx="1212427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spc="28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Character Archetypes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792550" y="1240445"/>
            <a:ext cx="1558789" cy="790054"/>
          </a:xfrm>
          <a:prstGeom prst="roundRect">
            <a:avLst>
              <a:gd name="adj" fmla="val 9645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237885" y="1386892"/>
            <a:ext cx="668119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2363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</a:t>
            </a:r>
            <a:endParaRPr lang="en-US" sz="2363" dirty="0"/>
          </a:p>
        </p:txBody>
      </p:sp>
      <p:sp>
        <p:nvSpPr>
          <p:cNvPr id="13" name="Text 10"/>
          <p:cNvSpPr/>
          <p:nvPr/>
        </p:nvSpPr>
        <p:spPr>
          <a:xfrm>
            <a:off x="4206316" y="1772655"/>
            <a:ext cx="731256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spc="28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Unique Traits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5472782" y="1240445"/>
            <a:ext cx="1558789" cy="790054"/>
          </a:xfrm>
          <a:prstGeom prst="roundRect">
            <a:avLst>
              <a:gd name="adj" fmla="val 9645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918117" y="1386892"/>
            <a:ext cx="668119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2363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</a:t>
            </a:r>
            <a:endParaRPr lang="en-US" sz="2363" dirty="0"/>
          </a:p>
        </p:txBody>
      </p:sp>
      <p:sp>
        <p:nvSpPr>
          <p:cNvPr id="16" name="Text 13"/>
          <p:cNvSpPr/>
          <p:nvPr/>
        </p:nvSpPr>
        <p:spPr>
          <a:xfrm>
            <a:off x="5978979" y="1772655"/>
            <a:ext cx="546283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spc="28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Settings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153015" y="1240445"/>
            <a:ext cx="1558677" cy="790054"/>
          </a:xfrm>
          <a:prstGeom prst="roundRect">
            <a:avLst>
              <a:gd name="adj" fmla="val 9645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598238" y="1386892"/>
            <a:ext cx="668119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2363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endParaRPr lang="en-US" sz="2363" dirty="0"/>
          </a:p>
        </p:txBody>
      </p:sp>
      <p:sp>
        <p:nvSpPr>
          <p:cNvPr id="19" name="Text 16"/>
          <p:cNvSpPr/>
          <p:nvPr/>
        </p:nvSpPr>
        <p:spPr>
          <a:xfrm>
            <a:off x="7486496" y="1772655"/>
            <a:ext cx="89160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spc="28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Narrative Twists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428625" y="2234096"/>
            <a:ext cx="7143750" cy="572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E2E8F0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engine randomly selects from five independent creative libraries and mashes up settings in pairs. Each premise receives a SHA-256 fingerprint as cryptographic proof of uniqueness. The LLM uses these directives as creative constraints, ensuring even identical genre selections produce dramatically different comics.</a:t>
            </a:r>
            <a:endParaRPr lang="en-US" sz="844" dirty="0"/>
          </a:p>
        </p:txBody>
      </p:sp>
      <p:sp>
        <p:nvSpPr>
          <p:cNvPr id="21" name="Text 18"/>
          <p:cNvSpPr/>
          <p:nvPr/>
        </p:nvSpPr>
        <p:spPr>
          <a:xfrm>
            <a:off x="432197" y="2910967"/>
            <a:ext cx="8279606" cy="292894"/>
          </a:xfrm>
          <a:prstGeom prst="roundRect">
            <a:avLst>
              <a:gd name="adj" fmla="val 19512"/>
            </a:avLst>
          </a:prstGeom>
          <a:solidFill>
            <a:srgbClr val="000000">
              <a:alpha val="50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78644" y="3007407"/>
            <a:ext cx="6154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6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SHA-256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60289" y="3000263"/>
            <a:ext cx="750506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28" kern="0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a7f3c2e9...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342900"/>
            <a:ext cx="571500" cy="214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8631"/>
            <a:ext cx="863600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4K Comic Page Assembly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910047"/>
            <a:ext cx="57150" cy="57150"/>
          </a:xfrm>
          <a:prstGeom prst="ellipse">
            <a:avLst/>
          </a:prstGeom>
          <a:solidFill>
            <a:srgbClr val="00E5FF"/>
          </a:solidFill>
          <a:ln/>
          <a:effectLst>
            <a:outerShdw sx="100000" sy="100000" kx="0" ky="0" algn="bl" rotWithShape="0" blurRad="76200" dist="50800" dir="16200000">
              <a:srgbClr val="00E5FF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71500" y="860041"/>
            <a:ext cx="4623346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2E8F0">
                    <a:alpha val="9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2480x3508px output (A4 at 210 DPI)</a:t>
            </a:r>
            <a:endParaRPr lang="en-US" sz="844" dirty="0"/>
          </a:p>
        </p:txBody>
      </p:sp>
      <p:sp>
        <p:nvSpPr>
          <p:cNvPr id="6" name="Text 3"/>
          <p:cNvSpPr/>
          <p:nvPr/>
        </p:nvSpPr>
        <p:spPr>
          <a:xfrm>
            <a:off x="428625" y="1176151"/>
            <a:ext cx="57150" cy="5715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50800" dir="16200000">
              <a:srgbClr val="8B5CF6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71500" y="1126145"/>
            <a:ext cx="4623346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2E8F0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Professional title page with glow text and gradient overlay</a:t>
            </a:r>
            <a:endParaRPr lang="en-US" sz="844" dirty="0"/>
          </a:p>
        </p:txBody>
      </p:sp>
      <p:sp>
        <p:nvSpPr>
          <p:cNvPr id="8" name="Text 5"/>
          <p:cNvSpPr/>
          <p:nvPr/>
        </p:nvSpPr>
        <p:spPr>
          <a:xfrm>
            <a:off x="428625" y="1442256"/>
            <a:ext cx="57150" cy="57150"/>
          </a:xfrm>
          <a:prstGeom prst="ellipse">
            <a:avLst/>
          </a:prstGeom>
          <a:solidFill>
            <a:srgbClr val="00E5FF"/>
          </a:solidFill>
          <a:ln/>
          <a:effectLst>
            <a:outerShdw sx="100000" sy="100000" kx="0" ky="0" algn="bl" rotWithShape="0" blurRad="76200" dist="50800" dir="16200000">
              <a:srgbClr val="00E5FF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71500" y="1392250"/>
            <a:ext cx="4623346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2E8F0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Dynamic non-uniform grid layouts (3-6 panels per page)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428625" y="1708361"/>
            <a:ext cx="57150" cy="5715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50800" dir="16200000">
              <a:srgbClr val="8B5CF6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71500" y="1658355"/>
            <a:ext cx="4623346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2E8F0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Speech bubbles with rounded rects, tails, and speaker labels</a:t>
            </a:r>
            <a:endParaRPr lang="en-US" sz="844" dirty="0"/>
          </a:p>
        </p:txBody>
      </p:sp>
      <p:sp>
        <p:nvSpPr>
          <p:cNvPr id="12" name="Text 9"/>
          <p:cNvSpPr/>
          <p:nvPr/>
        </p:nvSpPr>
        <p:spPr>
          <a:xfrm>
            <a:off x="428625" y="1974466"/>
            <a:ext cx="57150" cy="57150"/>
          </a:xfrm>
          <a:prstGeom prst="ellipse">
            <a:avLst/>
          </a:prstGeom>
          <a:solidFill>
            <a:srgbClr val="F43F5E"/>
          </a:solidFill>
          <a:ln/>
          <a:effectLst>
            <a:outerShdw sx="100000" sy="100000" kx="0" ky="0" algn="bl" rotWithShape="0" blurRad="76200" dist="50800" dir="16200000">
              <a:srgbClr val="F43F5E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71500" y="1924459"/>
            <a:ext cx="4623346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2E8F0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Narration boxes (yellow captions)</a:t>
            </a:r>
            <a:endParaRPr lang="en-US" sz="844" dirty="0"/>
          </a:p>
        </p:txBody>
      </p:sp>
      <p:sp>
        <p:nvSpPr>
          <p:cNvPr id="14" name="Text 11"/>
          <p:cNvSpPr/>
          <p:nvPr/>
        </p:nvSpPr>
        <p:spPr>
          <a:xfrm>
            <a:off x="428625" y="2240570"/>
            <a:ext cx="57150" cy="57150"/>
          </a:xfrm>
          <a:prstGeom prst="ellipse">
            <a:avLst/>
          </a:prstGeom>
          <a:solidFill>
            <a:srgbClr val="00E5FF"/>
          </a:solidFill>
          <a:ln/>
          <a:effectLst>
            <a:outerShdw sx="100000" sy="100000" kx="0" ky="0" algn="bl" rotWithShape="0" blurRad="76200" dist="50800" dir="16200000">
              <a:srgbClr val="00E5FF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71500" y="2190564"/>
            <a:ext cx="4623346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2E8F0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Stylized SFX text with outline effects</a:t>
            </a:r>
            <a:endParaRPr lang="en-US" sz="844" dirty="0"/>
          </a:p>
        </p:txBody>
      </p:sp>
      <p:sp>
        <p:nvSpPr>
          <p:cNvPr id="16" name="Text 13"/>
          <p:cNvSpPr/>
          <p:nvPr/>
        </p:nvSpPr>
        <p:spPr>
          <a:xfrm>
            <a:off x="428625" y="2506675"/>
            <a:ext cx="57150" cy="5715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50800" dir="16200000">
              <a:srgbClr val="8B5CF6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71500" y="2456669"/>
            <a:ext cx="4623346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2E8F0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Comic borders and page numbering</a:t>
            </a:r>
            <a:endParaRPr lang="en-US" sz="844" dirty="0"/>
          </a:p>
        </p:txBody>
      </p:sp>
      <p:sp>
        <p:nvSpPr>
          <p:cNvPr id="18" name="Text 15"/>
          <p:cNvSpPr/>
          <p:nvPr/>
        </p:nvSpPr>
        <p:spPr>
          <a:xfrm>
            <a:off x="5541318" y="863612"/>
            <a:ext cx="3170374" cy="3636169"/>
          </a:xfrm>
          <a:prstGeom prst="roundRect">
            <a:avLst>
              <a:gd name="adj" fmla="val 3004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687764" y="1010059"/>
            <a:ext cx="287748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6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PAGE PREVIEW LAYOUT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694908" y="1217228"/>
            <a:ext cx="2863193" cy="3128963"/>
          </a:xfrm>
          <a:prstGeom prst="roundRect">
            <a:avLst>
              <a:gd name="adj" fmla="val 1331"/>
            </a:avLst>
          </a:prstGeom>
          <a:solidFill>
            <a:srgbClr val="0D1117"/>
          </a:solidFill>
          <a:ln w="14288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805636" y="1342244"/>
            <a:ext cx="2641736" cy="221456"/>
          </a:xfrm>
          <a:prstGeom prst="roundRect">
            <a:avLst>
              <a:gd name="adj" fmla="val 12903"/>
            </a:avLst>
          </a:prstGeom>
          <a:solidFill>
            <a:srgbClr val="FACC15">
              <a:alpha val="12000"/>
            </a:srgbClr>
          </a:solidFill>
          <a:ln w="7144">
            <a:solidFill>
              <a:srgbClr val="FACC1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922071" y="1420825"/>
            <a:ext cx="1521730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28" kern="0" dirty="0">
                <a:solidFill>
                  <a:srgbClr val="FACC1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NARRATION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805636" y="1627994"/>
            <a:ext cx="1288666" cy="564356"/>
          </a:xfrm>
          <a:prstGeom prst="roundRect">
            <a:avLst>
              <a:gd name="adj" fmla="val 3376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692689" y="1688716"/>
            <a:ext cx="398041" cy="128016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13470" dir="13500000">
              <a:srgbClr val="000000">
                <a:alpha val="5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F43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POW!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158596" y="1627994"/>
            <a:ext cx="1288777" cy="564356"/>
          </a:xfrm>
          <a:prstGeom prst="roundRect">
            <a:avLst>
              <a:gd name="adj" fmla="val 3376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8029463" y="1945891"/>
            <a:ext cx="371475" cy="200025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8135679" y="2020900"/>
            <a:ext cx="288524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Hey!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805636" y="2949587"/>
            <a:ext cx="2641736" cy="421481"/>
          </a:xfrm>
          <a:prstGeom prst="roundRect">
            <a:avLst>
              <a:gd name="adj" fmla="val 4520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8029463" y="3124609"/>
            <a:ext cx="371475" cy="200025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8069488" y="3199619"/>
            <a:ext cx="38183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Let's go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6986378" y="4253322"/>
            <a:ext cx="33058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3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342900"/>
            <a:ext cx="571500" cy="214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8631"/>
            <a:ext cx="863600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Technology Stack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32197" y="863612"/>
            <a:ext cx="2640732" cy="3933416"/>
          </a:xfrm>
          <a:prstGeom prst="roundRect">
            <a:avLst>
              <a:gd name="adj" fmla="val 3607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84359" y="1027919"/>
            <a:ext cx="621796" cy="200025"/>
          </a:xfrm>
          <a:prstGeom prst="roundRect">
            <a:avLst>
              <a:gd name="adj" fmla="val 19048"/>
            </a:avLst>
          </a:prstGeom>
          <a:solidFill>
            <a:srgbClr val="00E5FF">
              <a:alpha val="12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7219" y="1038634"/>
            <a:ext cx="57607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68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/ ML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07219" y="1302953"/>
            <a:ext cx="22906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607219" y="1617278"/>
            <a:ext cx="2290688" cy="1835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PyTorch 2.11.0+rocm7.2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Diffusers (HuggingFace)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Transformers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SDXL Base + Refiner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LTX Video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xformers</a:t>
            </a:r>
            <a:endParaRPr lang="en-US" sz="844" dirty="0"/>
          </a:p>
        </p:txBody>
      </p:sp>
      <p:sp>
        <p:nvSpPr>
          <p:cNvPr id="9" name="Text 6"/>
          <p:cNvSpPr/>
          <p:nvPr/>
        </p:nvSpPr>
        <p:spPr>
          <a:xfrm>
            <a:off x="3251522" y="863612"/>
            <a:ext cx="2640843" cy="3933416"/>
          </a:xfrm>
          <a:prstGeom prst="roundRect">
            <a:avLst>
              <a:gd name="adj" fmla="val 3607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403684" y="1027919"/>
            <a:ext cx="1166061" cy="200025"/>
          </a:xfrm>
          <a:prstGeom prst="roundRect">
            <a:avLst>
              <a:gd name="adj" fmla="val 19048"/>
            </a:avLst>
          </a:prstGeom>
          <a:solidFill>
            <a:srgbClr val="8B5CF6">
              <a:alpha val="12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426544" y="1038634"/>
            <a:ext cx="112034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68" kern="0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BACKEND / INFRA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426544" y="1302953"/>
            <a:ext cx="22908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Backend/Infra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3426544" y="1617278"/>
            <a:ext cx="2290800" cy="169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Python 3.10+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Gradio 6.20.0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ROCm 7.2 HIP runtime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Radeon Cloud (Radeon RX 7900 XTX 24GB)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Pillow/PIL for image composition</a:t>
            </a:r>
            <a:endParaRPr lang="en-US" sz="844" dirty="0"/>
          </a:p>
        </p:txBody>
      </p:sp>
      <p:sp>
        <p:nvSpPr>
          <p:cNvPr id="14" name="Text 11"/>
          <p:cNvSpPr/>
          <p:nvPr/>
        </p:nvSpPr>
        <p:spPr>
          <a:xfrm>
            <a:off x="6070960" y="863612"/>
            <a:ext cx="2640732" cy="3933416"/>
          </a:xfrm>
          <a:prstGeom prst="roundRect">
            <a:avLst>
              <a:gd name="adj" fmla="val 3607"/>
            </a:avLst>
          </a:prstGeom>
          <a:solidFill>
            <a:srgbClr val="111827"/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223122" y="1027919"/>
            <a:ext cx="813673" cy="200025"/>
          </a:xfrm>
          <a:prstGeom prst="roundRect">
            <a:avLst>
              <a:gd name="adj" fmla="val 19048"/>
            </a:avLst>
          </a:prstGeom>
          <a:solidFill>
            <a:srgbClr val="F43F5E">
              <a:alpha val="12000"/>
            </a:srgbClr>
          </a:solidFill>
          <a:ln w="7144">
            <a:solidFill>
              <a:srgbClr val="F43F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245982" y="1038634"/>
            <a:ext cx="76795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68" kern="0" dirty="0">
                <a:solidFill>
                  <a:srgbClr val="F43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FRONTEND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245982" y="1302953"/>
            <a:ext cx="22906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Frontend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6245982" y="1617278"/>
            <a:ext cx="2290688" cy="152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F43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HTML/CSS cyberpunk theme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F43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Animated grid background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F43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Neon glow effects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F43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HUD corner decorations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F43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Responsive Gradio layout</a:t>
            </a:r>
            <a:endParaRPr lang="en-US" sz="84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1863" y="628650"/>
            <a:ext cx="5440162" cy="555498"/>
          </a:xfrm>
          <a:prstGeom prst="rect">
            <a:avLst/>
          </a:prstGeom>
          <a:noFill/>
          <a:ln/>
          <a:effectLst>
            <a:outerShdw sx="100000" sy="100000" kx="0" ky="0" algn="bl" rotWithShape="0" blurRad="285750" dist="50800" dir="16200000">
              <a:srgbClr val="00E5FF">
                <a:alpha val="5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4050" b="1" spc="78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TEXTOVID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2720586" y="1285875"/>
            <a:ext cx="3702717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38" spc="28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Comic Studio for AMD Radeon</a:t>
            </a:r>
            <a:endParaRPr lang="en-US" sz="1238" dirty="0"/>
          </a:p>
        </p:txBody>
      </p:sp>
      <p:sp>
        <p:nvSpPr>
          <p:cNvPr id="4" name="Text 2"/>
          <p:cNvSpPr/>
          <p:nvPr/>
        </p:nvSpPr>
        <p:spPr>
          <a:xfrm>
            <a:off x="3245916" y="1664494"/>
            <a:ext cx="2652057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250" b="1" spc="2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2250281"/>
            <a:ext cx="2286000" cy="142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31924" y="2481596"/>
            <a:ext cx="1580622" cy="216027"/>
          </a:xfrm>
          <a:prstGeom prst="roundRect">
            <a:avLst>
              <a:gd name="adj" fmla="val 17637"/>
            </a:avLst>
          </a:prstGeom>
          <a:solidFill>
            <a:srgbClr val="00E5FF">
              <a:alpha val="10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554784" y="2493169"/>
            <a:ext cx="15349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56" kern="0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TRACK 1: MULTIMODAL AI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181125" y="2481596"/>
            <a:ext cx="1364858" cy="216027"/>
          </a:xfrm>
          <a:prstGeom prst="roundRect">
            <a:avLst>
              <a:gd name="adj" fmla="val 17637"/>
            </a:avLst>
          </a:prstGeom>
          <a:solidFill>
            <a:srgbClr val="8B5CF6">
              <a:alpha val="10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203985" y="2493169"/>
            <a:ext cx="13191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56" kern="0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ROCM 7.2 OPTIMIZED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614563" y="2481596"/>
            <a:ext cx="997513" cy="216027"/>
          </a:xfrm>
          <a:prstGeom prst="roundRect">
            <a:avLst>
              <a:gd name="adj" fmla="val 17637"/>
            </a:avLst>
          </a:prstGeom>
          <a:solidFill>
            <a:srgbClr val="00E5FF">
              <a:alpha val="10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637423" y="2493169"/>
            <a:ext cx="95179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56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SOURCE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28625" y="4722019"/>
            <a:ext cx="8636000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AMD AI DEVMASTER HACKATHON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2026-07-23T16:31:22Z</dcterms:created>
  <dcterms:modified xsi:type="dcterms:W3CDTF">2026-07-23T16:31:22Z</dcterms:modified>
</cp:coreProperties>
</file>